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sldIdLst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1920" y="3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tags" Target="tags/tag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anchorCtr="1"/>
          <a:lstStyle/>
          <a:p>
            <a:pPr>
              <a:defRPr/>
            </a:pPr>
            <a:r>
              <a:rPr lang="en-US"/>
              <a:t>Completion / Dropout</a:t>
            </a:r>
          </a:p>
        </c:rich>
      </c:tx>
      <c:overlay val="0"/>
    </c:title>
    <c:autoTitleDeleted val="0"/>
    <c:view3D>
      <c:rotX val="3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explosion val="25"/>
          <c:dPt>
            <c:idx val="0"/>
            <c:bubble3D val="0"/>
            <c:spPr>
              <a:solidFill>
                <a:srgbClr val="4980BA"/>
              </a:solidFill>
            </c:spPr>
            <c:extLst>
              <c:ext xmlns:c16="http://schemas.microsoft.com/office/drawing/2014/chart" uri="{C3380CC4-5D6E-409C-BE32-E72D297353CC}">
                <c16:uniqueId val="{00000001-6D68-48DB-BA00-FFFF0009DC94}"/>
              </c:ext>
            </c:extLst>
          </c:dPt>
          <c:dPt>
            <c:idx val="1"/>
            <c:bubble3D val="0"/>
            <c:spPr>
              <a:solidFill>
                <a:srgbClr val="C6514E"/>
              </a:solidFill>
            </c:spPr>
            <c:extLst>
              <c:ext xmlns:c16="http://schemas.microsoft.com/office/drawing/2014/chart" uri="{C3380CC4-5D6E-409C-BE32-E72D297353CC}">
                <c16:uniqueId val="{00000003-6D68-48DB-BA00-FFFF0009DC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Completed</c:v>
                </c:pt>
                <c:pt idx="1">
                  <c:v>Drop Out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</c:v>
                </c:pt>
                <c:pt idx="1">
                  <c:v>523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D68-48DB-BA00-FFFF0009DC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</c:plotArea>
    <c:legend>
      <c:legendPos val="r"/>
      <c:overlay val="0"/>
    </c:legend>
    <c:plotVisOnly val="1"/>
    <c:dispBlanksAs val="zero"/>
    <c:showDLblsOverMax val="1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4980BA"/>
              </a:solidFill>
            </c:spPr>
            <c:extLst>
              <c:ext xmlns:c16="http://schemas.microsoft.com/office/drawing/2014/chart" uri="{C3380CC4-5D6E-409C-BE32-E72D297353CC}">
                <c16:uniqueId val="{00000001-3B38-47D9-9D00-EAF8546D6FE1}"/>
              </c:ext>
            </c:extLst>
          </c:dPt>
          <c:dPt>
            <c:idx val="1"/>
            <c:invertIfNegative val="1"/>
            <c:bubble3D val="0"/>
            <c:spPr>
              <a:solidFill>
                <a:srgbClr val="C6514E"/>
              </a:solidFill>
            </c:spPr>
            <c:extLst>
              <c:ext xmlns:c16="http://schemas.microsoft.com/office/drawing/2014/chart" uri="{C3380CC4-5D6E-409C-BE32-E72D297353CC}">
                <c16:uniqueId val="{00000003-3B38-47D9-9D00-EAF8546D6FE1}"/>
              </c:ext>
            </c:extLst>
          </c:dPt>
          <c:dPt>
            <c:idx val="2"/>
            <c:invertIfNegative val="1"/>
            <c:bubble3D val="0"/>
            <c:spPr>
              <a:solidFill>
                <a:srgbClr val="96B95D"/>
              </a:solidFill>
            </c:spPr>
            <c:extLst>
              <c:ext xmlns:c16="http://schemas.microsoft.com/office/drawing/2014/chart" uri="{C3380CC4-5D6E-409C-BE32-E72D297353CC}">
                <c16:uniqueId val="{00000005-3B38-47D9-9D00-EAF8546D6FE1}"/>
              </c:ext>
            </c:extLst>
          </c:dPt>
          <c:dPt>
            <c:idx val="3"/>
            <c:invertIfNegative val="1"/>
            <c:bubble3D val="0"/>
            <c:spPr>
              <a:solidFill>
                <a:srgbClr val="81649F"/>
              </a:solidFill>
            </c:spPr>
            <c:extLst>
              <c:ext xmlns:c16="http://schemas.microsoft.com/office/drawing/2014/chart" uri="{C3380CC4-5D6E-409C-BE32-E72D297353CC}">
                <c16:uniqueId val="{00000007-3B38-47D9-9D00-EAF8546D6FE1}"/>
              </c:ext>
            </c:extLst>
          </c:dPt>
          <c:dPt>
            <c:idx val="4"/>
            <c:invertIfNegative val="1"/>
            <c:bubble3D val="0"/>
            <c:spPr>
              <a:solidFill>
                <a:srgbClr val="38ABC4"/>
              </a:solidFill>
            </c:spPr>
            <c:extLst>
              <c:ext xmlns:c16="http://schemas.microsoft.com/office/drawing/2014/chart" uri="{C3380CC4-5D6E-409C-BE32-E72D297353CC}">
                <c16:uniqueId val="{00000009-3B38-47D9-9D00-EAF8546D6FE1}"/>
              </c:ext>
            </c:extLst>
          </c:dPt>
          <c:dPt>
            <c:idx val="5"/>
            <c:invertIfNegative val="1"/>
            <c:bubble3D val="0"/>
            <c:spPr>
              <a:solidFill>
                <a:srgbClr val="4980BA"/>
              </a:solidFill>
            </c:spPr>
            <c:extLst>
              <c:ext xmlns:c16="http://schemas.microsoft.com/office/drawing/2014/chart" uri="{C3380CC4-5D6E-409C-BE32-E72D297353CC}">
                <c16:uniqueId val="{0000000B-3B38-47D9-9D00-EAF8546D6FE1}"/>
              </c:ext>
            </c:extLst>
          </c:dPt>
          <c:dPt>
            <c:idx val="6"/>
            <c:invertIfNegative val="1"/>
            <c:bubble3D val="0"/>
            <c:spPr>
              <a:solidFill>
                <a:srgbClr val="C6514E"/>
              </a:solidFill>
            </c:spPr>
            <c:extLst>
              <c:ext xmlns:c16="http://schemas.microsoft.com/office/drawing/2014/chart" uri="{C3380CC4-5D6E-409C-BE32-E72D297353CC}">
                <c16:uniqueId val="{0000000D-3B38-47D9-9D00-EAF8546D6FE1}"/>
              </c:ext>
            </c:extLst>
          </c:dPt>
          <c:dPt>
            <c:idx val="7"/>
            <c:invertIfNegative val="1"/>
            <c:bubble3D val="0"/>
            <c:spPr>
              <a:solidFill>
                <a:srgbClr val="96B95D"/>
              </a:solidFill>
            </c:spPr>
            <c:extLst>
              <c:ext xmlns:c16="http://schemas.microsoft.com/office/drawing/2014/chart" uri="{C3380CC4-5D6E-409C-BE32-E72D297353CC}">
                <c16:uniqueId val="{0000000F-3B38-47D9-9D00-EAF8546D6FE1}"/>
              </c:ext>
            </c:extLst>
          </c:dPt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Practitioner</c:v>
                </c:pt>
                <c:pt idx="1">
                  <c:v>Industrial researcher</c:v>
                </c:pt>
                <c:pt idx="2">
                  <c:v>Tenured university faculty member</c:v>
                </c:pt>
                <c:pt idx="3">
                  <c:v>Untenured university faculty member</c:v>
                </c:pt>
                <c:pt idx="4">
                  <c:v>Postdoctoral researcher</c:v>
                </c:pt>
                <c:pt idx="5">
                  <c:v>Graduate student</c:v>
                </c:pt>
                <c:pt idx="6">
                  <c:v>Undergraduate student</c:v>
                </c:pt>
                <c:pt idx="7">
                  <c:v>Other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5.7599999999999998E-2</c:v>
                </c:pt>
                <c:pt idx="1">
                  <c:v>8.6300000000000002E-2</c:v>
                </c:pt>
                <c:pt idx="2">
                  <c:v>0.53600000000000003</c:v>
                </c:pt>
                <c:pt idx="3">
                  <c:v>0.1331</c:v>
                </c:pt>
                <c:pt idx="4">
                  <c:v>9.35E-2</c:v>
                </c:pt>
                <c:pt idx="5">
                  <c:v>0.1583</c:v>
                </c:pt>
                <c:pt idx="6">
                  <c:v>1.0800000000000001E-2</c:v>
                </c:pt>
                <c:pt idx="7">
                  <c:v>2.52E-2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B38-47D9-9D00-EAF8546D6F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7451136"/>
        <c:axId val="66437120"/>
      </c:barChart>
      <c:catAx>
        <c:axId val="674511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808080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66437120"/>
        <c:crosses val="autoZero"/>
        <c:auto val="1"/>
        <c:lblAlgn val="ctr"/>
        <c:lblOffset val="100"/>
        <c:noMultiLvlLbl val="1"/>
      </c:catAx>
      <c:valAx>
        <c:axId val="66437120"/>
        <c:scaling>
          <c:orientation val="minMax"/>
        </c:scaling>
        <c:delete val="0"/>
        <c:axPos val="l"/>
        <c:majorGridlines>
          <c:spPr>
            <a:ln>
              <a:solidFill>
                <a:srgbClr val="D8D8D8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67451136"/>
        <c:crosses val="autoZero"/>
        <c:crossBetween val="between"/>
      </c:valAx>
    </c:plotArea>
    <c:plotVisOnly val="1"/>
    <c:dispBlanksAs val="zero"/>
    <c:showDLblsOverMax val="1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4980BA"/>
              </a:solidFill>
            </c:spPr>
            <c:extLst>
              <c:ext xmlns:c16="http://schemas.microsoft.com/office/drawing/2014/chart" uri="{C3380CC4-5D6E-409C-BE32-E72D297353CC}">
                <c16:uniqueId val="{00000001-13E6-4C87-843D-DADF80677D0D}"/>
              </c:ext>
            </c:extLst>
          </c:dPt>
          <c:dPt>
            <c:idx val="1"/>
            <c:invertIfNegative val="1"/>
            <c:bubble3D val="0"/>
            <c:spPr>
              <a:solidFill>
                <a:srgbClr val="C6514E"/>
              </a:solidFill>
            </c:spPr>
            <c:extLst>
              <c:ext xmlns:c16="http://schemas.microsoft.com/office/drawing/2014/chart" uri="{C3380CC4-5D6E-409C-BE32-E72D297353CC}">
                <c16:uniqueId val="{00000003-13E6-4C87-843D-DADF80677D0D}"/>
              </c:ext>
            </c:extLst>
          </c:dPt>
          <c:dPt>
            <c:idx val="2"/>
            <c:invertIfNegative val="1"/>
            <c:bubble3D val="0"/>
            <c:spPr>
              <a:solidFill>
                <a:srgbClr val="96B95D"/>
              </a:solidFill>
            </c:spPr>
            <c:extLst>
              <c:ext xmlns:c16="http://schemas.microsoft.com/office/drawing/2014/chart" uri="{C3380CC4-5D6E-409C-BE32-E72D297353CC}">
                <c16:uniqueId val="{00000005-13E6-4C87-843D-DADF80677D0D}"/>
              </c:ext>
            </c:extLst>
          </c:dPt>
          <c:dPt>
            <c:idx val="3"/>
            <c:invertIfNegative val="1"/>
            <c:bubble3D val="0"/>
            <c:spPr>
              <a:solidFill>
                <a:srgbClr val="81649F"/>
              </a:solidFill>
            </c:spPr>
            <c:extLst>
              <c:ext xmlns:c16="http://schemas.microsoft.com/office/drawing/2014/chart" uri="{C3380CC4-5D6E-409C-BE32-E72D297353CC}">
                <c16:uniqueId val="{00000007-13E6-4C87-843D-DADF80677D0D}"/>
              </c:ext>
            </c:extLst>
          </c:dPt>
          <c:dPt>
            <c:idx val="4"/>
            <c:invertIfNegative val="1"/>
            <c:bubble3D val="0"/>
            <c:spPr>
              <a:solidFill>
                <a:srgbClr val="38ABC4"/>
              </a:solidFill>
            </c:spPr>
            <c:extLst>
              <c:ext xmlns:c16="http://schemas.microsoft.com/office/drawing/2014/chart" uri="{C3380CC4-5D6E-409C-BE32-E72D297353CC}">
                <c16:uniqueId val="{00000009-13E6-4C87-843D-DADF80677D0D}"/>
              </c:ext>
            </c:extLst>
          </c:dPt>
          <c:dPt>
            <c:idx val="5"/>
            <c:invertIfNegative val="1"/>
            <c:bubble3D val="0"/>
            <c:spPr>
              <a:solidFill>
                <a:srgbClr val="4980BA"/>
              </a:solidFill>
            </c:spPr>
            <c:extLst>
              <c:ext xmlns:c16="http://schemas.microsoft.com/office/drawing/2014/chart" uri="{C3380CC4-5D6E-409C-BE32-E72D297353CC}">
                <c16:uniqueId val="{0000000B-13E6-4C87-843D-DADF80677D0D}"/>
              </c:ext>
            </c:extLst>
          </c:dPt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0-1 years</c:v>
                </c:pt>
                <c:pt idx="1">
                  <c:v>2-3 years</c:v>
                </c:pt>
                <c:pt idx="2">
                  <c:v>4-5 years</c:v>
                </c:pt>
                <c:pt idx="3">
                  <c:v>6-10 years</c:v>
                </c:pt>
                <c:pt idx="4">
                  <c:v>11-20 years</c:v>
                </c:pt>
                <c:pt idx="5">
                  <c:v>21+ years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4.3299999999999998E-2</c:v>
                </c:pt>
                <c:pt idx="1">
                  <c:v>9.3899999999999997E-2</c:v>
                </c:pt>
                <c:pt idx="2">
                  <c:v>0.1047</c:v>
                </c:pt>
                <c:pt idx="3">
                  <c:v>0.18049999999999999</c:v>
                </c:pt>
                <c:pt idx="4">
                  <c:v>0.29599999999999999</c:v>
                </c:pt>
                <c:pt idx="5">
                  <c:v>0.28160000000000002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3E6-4C87-843D-DADF80677D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7451136"/>
        <c:axId val="66437120"/>
      </c:barChart>
      <c:catAx>
        <c:axId val="674511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808080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66437120"/>
        <c:crosses val="autoZero"/>
        <c:auto val="1"/>
        <c:lblAlgn val="ctr"/>
        <c:lblOffset val="100"/>
        <c:noMultiLvlLbl val="1"/>
      </c:catAx>
      <c:valAx>
        <c:axId val="66437120"/>
        <c:scaling>
          <c:orientation val="minMax"/>
        </c:scaling>
        <c:delete val="0"/>
        <c:axPos val="l"/>
        <c:majorGridlines>
          <c:spPr>
            <a:ln>
              <a:solidFill>
                <a:srgbClr val="D8D8D8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67451136"/>
        <c:crosses val="autoZero"/>
        <c:crossBetween val="between"/>
      </c:valAx>
    </c:plotArea>
    <c:plotVisOnly val="1"/>
    <c:dispBlanksAs val="zero"/>
    <c:showDLblsOverMax val="1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4980BA"/>
              </a:solidFill>
            </c:spPr>
            <c:extLst>
              <c:ext xmlns:c16="http://schemas.microsoft.com/office/drawing/2014/chart" uri="{C3380CC4-5D6E-409C-BE32-E72D297353CC}">
                <c16:uniqueId val="{00000001-34CE-4FE2-BEB5-69BF47875DCD}"/>
              </c:ext>
            </c:extLst>
          </c:dPt>
          <c:dPt>
            <c:idx val="1"/>
            <c:invertIfNegative val="1"/>
            <c:bubble3D val="0"/>
            <c:spPr>
              <a:solidFill>
                <a:srgbClr val="C6514E"/>
              </a:solidFill>
            </c:spPr>
            <c:extLst>
              <c:ext xmlns:c16="http://schemas.microsoft.com/office/drawing/2014/chart" uri="{C3380CC4-5D6E-409C-BE32-E72D297353CC}">
                <c16:uniqueId val="{00000003-34CE-4FE2-BEB5-69BF47875DCD}"/>
              </c:ext>
            </c:extLst>
          </c:dPt>
          <c:dPt>
            <c:idx val="2"/>
            <c:invertIfNegative val="1"/>
            <c:bubble3D val="0"/>
            <c:spPr>
              <a:solidFill>
                <a:srgbClr val="96B95D"/>
              </a:solidFill>
            </c:spPr>
            <c:extLst>
              <c:ext xmlns:c16="http://schemas.microsoft.com/office/drawing/2014/chart" uri="{C3380CC4-5D6E-409C-BE32-E72D297353CC}">
                <c16:uniqueId val="{00000005-34CE-4FE2-BEB5-69BF47875DCD}"/>
              </c:ext>
            </c:extLst>
          </c:dPt>
          <c:dPt>
            <c:idx val="3"/>
            <c:invertIfNegative val="1"/>
            <c:bubble3D val="0"/>
            <c:spPr>
              <a:solidFill>
                <a:srgbClr val="81649F"/>
              </a:solidFill>
            </c:spPr>
            <c:extLst>
              <c:ext xmlns:c16="http://schemas.microsoft.com/office/drawing/2014/chart" uri="{C3380CC4-5D6E-409C-BE32-E72D297353CC}">
                <c16:uniqueId val="{00000007-34CE-4FE2-BEB5-69BF47875DCD}"/>
              </c:ext>
            </c:extLst>
          </c:dPt>
          <c:dPt>
            <c:idx val="4"/>
            <c:invertIfNegative val="1"/>
            <c:bubble3D val="0"/>
            <c:spPr>
              <a:solidFill>
                <a:srgbClr val="38ABC4"/>
              </a:solidFill>
            </c:spPr>
            <c:extLst>
              <c:ext xmlns:c16="http://schemas.microsoft.com/office/drawing/2014/chart" uri="{C3380CC4-5D6E-409C-BE32-E72D297353CC}">
                <c16:uniqueId val="{00000009-34CE-4FE2-BEB5-69BF47875DCD}"/>
              </c:ext>
            </c:extLst>
          </c:dPt>
          <c:dPt>
            <c:idx val="5"/>
            <c:invertIfNegative val="1"/>
            <c:bubble3D val="0"/>
            <c:spPr>
              <a:solidFill>
                <a:srgbClr val="4980BA"/>
              </a:solidFill>
            </c:spPr>
            <c:extLst>
              <c:ext xmlns:c16="http://schemas.microsoft.com/office/drawing/2014/chart" uri="{C3380CC4-5D6E-409C-BE32-E72D297353CC}">
                <c16:uniqueId val="{0000000B-34CE-4FE2-BEB5-69BF47875DCD}"/>
              </c:ext>
            </c:extLst>
          </c:dPt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1-3</c:v>
                </c:pt>
                <c:pt idx="2">
                  <c:v>4-10</c:v>
                </c:pt>
                <c:pt idx="3">
                  <c:v>11-20</c:v>
                </c:pt>
                <c:pt idx="4">
                  <c:v>21-40</c:v>
                </c:pt>
                <c:pt idx="5">
                  <c:v>41+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2.8899999999999999E-2</c:v>
                </c:pt>
                <c:pt idx="1">
                  <c:v>0.19489999999999999</c:v>
                </c:pt>
                <c:pt idx="2">
                  <c:v>0.32850000000000001</c:v>
                </c:pt>
                <c:pt idx="3">
                  <c:v>0.26350000000000001</c:v>
                </c:pt>
                <c:pt idx="4">
                  <c:v>0.11550000000000001</c:v>
                </c:pt>
                <c:pt idx="5">
                  <c:v>6.8599999999999994E-2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4CE-4FE2-BEB5-69BF47875D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7451136"/>
        <c:axId val="66437120"/>
      </c:barChart>
      <c:catAx>
        <c:axId val="674511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808080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66437120"/>
        <c:crosses val="autoZero"/>
        <c:auto val="1"/>
        <c:lblAlgn val="ctr"/>
        <c:lblOffset val="100"/>
        <c:noMultiLvlLbl val="1"/>
      </c:catAx>
      <c:valAx>
        <c:axId val="66437120"/>
        <c:scaling>
          <c:orientation val="minMax"/>
        </c:scaling>
        <c:delete val="0"/>
        <c:axPos val="l"/>
        <c:majorGridlines>
          <c:spPr>
            <a:ln>
              <a:solidFill>
                <a:srgbClr val="D8D8D8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67451136"/>
        <c:crosses val="autoZero"/>
        <c:crossBetween val="between"/>
      </c:valAx>
    </c:plotArea>
    <c:plotVisOnly val="1"/>
    <c:dispBlanksAs val="zero"/>
    <c:showDLblsOverMax val="1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4980BA"/>
              </a:solidFill>
            </c:spPr>
            <c:extLst>
              <c:ext xmlns:c16="http://schemas.microsoft.com/office/drawing/2014/chart" uri="{C3380CC4-5D6E-409C-BE32-E72D297353CC}">
                <c16:uniqueId val="{00000001-510D-4D38-BAC9-99EC39D36993}"/>
              </c:ext>
            </c:extLst>
          </c:dPt>
          <c:dPt>
            <c:idx val="1"/>
            <c:invertIfNegative val="1"/>
            <c:bubble3D val="0"/>
            <c:spPr>
              <a:solidFill>
                <a:srgbClr val="C6514E"/>
              </a:solidFill>
            </c:spPr>
            <c:extLst>
              <c:ext xmlns:c16="http://schemas.microsoft.com/office/drawing/2014/chart" uri="{C3380CC4-5D6E-409C-BE32-E72D297353CC}">
                <c16:uniqueId val="{00000003-510D-4D38-BAC9-99EC39D36993}"/>
              </c:ext>
            </c:extLst>
          </c:dPt>
          <c:dPt>
            <c:idx val="2"/>
            <c:invertIfNegative val="1"/>
            <c:bubble3D val="0"/>
            <c:spPr>
              <a:solidFill>
                <a:srgbClr val="96B95D"/>
              </a:solidFill>
            </c:spPr>
            <c:extLst>
              <c:ext xmlns:c16="http://schemas.microsoft.com/office/drawing/2014/chart" uri="{C3380CC4-5D6E-409C-BE32-E72D297353CC}">
                <c16:uniqueId val="{00000005-510D-4D38-BAC9-99EC39D36993}"/>
              </c:ext>
            </c:extLst>
          </c:dPt>
          <c:dPt>
            <c:idx val="3"/>
            <c:invertIfNegative val="1"/>
            <c:bubble3D val="0"/>
            <c:spPr>
              <a:solidFill>
                <a:srgbClr val="81649F"/>
              </a:solidFill>
            </c:spPr>
            <c:extLst>
              <c:ext xmlns:c16="http://schemas.microsoft.com/office/drawing/2014/chart" uri="{C3380CC4-5D6E-409C-BE32-E72D297353CC}">
                <c16:uniqueId val="{00000007-510D-4D38-BAC9-99EC39D36993}"/>
              </c:ext>
            </c:extLst>
          </c:dPt>
          <c:dPt>
            <c:idx val="4"/>
            <c:invertIfNegative val="1"/>
            <c:bubble3D val="0"/>
            <c:spPr>
              <a:solidFill>
                <a:srgbClr val="38ABC4"/>
              </a:solidFill>
            </c:spPr>
            <c:extLst>
              <c:ext xmlns:c16="http://schemas.microsoft.com/office/drawing/2014/chart" uri="{C3380CC4-5D6E-409C-BE32-E72D297353CC}">
                <c16:uniqueId val="{00000009-510D-4D38-BAC9-99EC39D36993}"/>
              </c:ext>
            </c:extLst>
          </c:dPt>
          <c:dPt>
            <c:idx val="5"/>
            <c:invertIfNegative val="1"/>
            <c:bubble3D val="0"/>
            <c:spPr>
              <a:solidFill>
                <a:srgbClr val="4980BA"/>
              </a:solidFill>
            </c:spPr>
            <c:extLst>
              <c:ext xmlns:c16="http://schemas.microsoft.com/office/drawing/2014/chart" uri="{C3380CC4-5D6E-409C-BE32-E72D297353CC}">
                <c16:uniqueId val="{0000000B-510D-4D38-BAC9-99EC39D36993}"/>
              </c:ext>
            </c:extLst>
          </c:dPt>
          <c:dPt>
            <c:idx val="6"/>
            <c:invertIfNegative val="1"/>
            <c:bubble3D val="0"/>
            <c:spPr>
              <a:solidFill>
                <a:srgbClr val="C6514E"/>
              </a:solidFill>
            </c:spPr>
            <c:extLst>
              <c:ext xmlns:c16="http://schemas.microsoft.com/office/drawing/2014/chart" uri="{C3380CC4-5D6E-409C-BE32-E72D297353CC}">
                <c16:uniqueId val="{0000000D-510D-4D38-BAC9-99EC39D36993}"/>
              </c:ext>
            </c:extLst>
          </c:dPt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Africa</c:v>
                </c:pt>
                <c:pt idx="1">
                  <c:v>Asia</c:v>
                </c:pt>
                <c:pt idx="2">
                  <c:v>Europe</c:v>
                </c:pt>
                <c:pt idx="3">
                  <c:v>Middle East</c:v>
                </c:pt>
                <c:pt idx="4">
                  <c:v>North America</c:v>
                </c:pt>
                <c:pt idx="5">
                  <c:v>Oceania</c:v>
                </c:pt>
                <c:pt idx="6">
                  <c:v>South America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0.14799999999999999</c:v>
                </c:pt>
                <c:pt idx="2">
                  <c:v>0.50180000000000002</c:v>
                </c:pt>
                <c:pt idx="3">
                  <c:v>7.1999999999999998E-3</c:v>
                </c:pt>
                <c:pt idx="4">
                  <c:v>0.25269999999999998</c:v>
                </c:pt>
                <c:pt idx="5">
                  <c:v>3.9699999999999999E-2</c:v>
                </c:pt>
                <c:pt idx="6">
                  <c:v>5.0500000000000003E-2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10D-4D38-BAC9-99EC39D369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7451136"/>
        <c:axId val="66437120"/>
      </c:barChart>
      <c:catAx>
        <c:axId val="674511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808080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66437120"/>
        <c:crosses val="autoZero"/>
        <c:auto val="1"/>
        <c:lblAlgn val="ctr"/>
        <c:lblOffset val="100"/>
        <c:noMultiLvlLbl val="1"/>
      </c:catAx>
      <c:valAx>
        <c:axId val="66437120"/>
        <c:scaling>
          <c:orientation val="minMax"/>
        </c:scaling>
        <c:delete val="0"/>
        <c:axPos val="l"/>
        <c:majorGridlines>
          <c:spPr>
            <a:ln>
              <a:solidFill>
                <a:srgbClr val="D8D8D8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67451136"/>
        <c:crosses val="autoZero"/>
        <c:crossBetween val="between"/>
      </c:valAx>
    </c:plotArea>
    <c:plotVisOnly val="1"/>
    <c:dispBlanksAs val="zero"/>
    <c:showDLblsOverMax val="1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1/6/26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9B91-2147-AE44-9A29-A3A04B6CEA19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AF5E3-590F-234E-9775-BAC5EAE4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5407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9B91-2147-AE44-9A29-A3A04B6CEA19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AF5E3-590F-234E-9775-BAC5EAE4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02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9B91-2147-AE44-9A29-A3A04B6CEA19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AF5E3-590F-234E-9775-BAC5EAE4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750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9B91-2147-AE44-9A29-A3A04B6CEA19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AF5E3-590F-234E-9775-BAC5EAE4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61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9B91-2147-AE44-9A29-A3A04B6CEA19}" type="datetimeFigureOut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AF5E3-590F-234E-9775-BAC5EAE4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687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9B91-2147-AE44-9A29-A3A04B6CEA19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AF5E3-590F-234E-9775-BAC5EAE4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371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9B91-2147-AE44-9A29-A3A04B6CEA19}" type="datetimeFigureOut">
              <a:rPr lang="en-US" smtClean="0"/>
              <a:t>1/6/26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AF5E3-590F-234E-9775-BAC5EAE4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462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9B91-2147-AE44-9A29-A3A04B6CEA19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AF5E3-590F-234E-9775-BAC5EAE4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344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9B91-2147-AE44-9A29-A3A04B6CEA19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AF5E3-590F-234E-9775-BAC5EAE4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8109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9B91-2147-AE44-9A29-A3A04B6CEA19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AF5E3-590F-234E-9775-BAC5EAE4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47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9B91-2147-AE44-9A29-A3A04B6CEA19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AF5E3-590F-234E-9775-BAC5EAE4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8039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9B91-2147-AE44-9A29-A3A04B6CEA19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AF5E3-590F-234E-9775-BAC5EAE4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5407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9B91-2147-AE44-9A29-A3A04B6CEA19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AF5E3-590F-234E-9775-BAC5EAE4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02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9B91-2147-AE44-9A29-A3A04B6CEA19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AF5E3-590F-234E-9775-BAC5EAE4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7502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9B91-2147-AE44-9A29-A3A04B6CEA19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AF5E3-590F-234E-9775-BAC5EAE4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614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9B91-2147-AE44-9A29-A3A04B6CEA19}" type="datetimeFigureOut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AF5E3-590F-234E-9775-BAC5EAE4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687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9B91-2147-AE44-9A29-A3A04B6CEA19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AF5E3-590F-234E-9775-BAC5EAE4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371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9B91-2147-AE44-9A29-A3A04B6CEA19}" type="datetimeFigureOut">
              <a:rPr lang="en-US" smtClean="0"/>
              <a:t>1/6/26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AF5E3-590F-234E-9775-BAC5EAE4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462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9B91-2147-AE44-9A29-A3A04B6CEA19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AF5E3-590F-234E-9775-BAC5EAE4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344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9B91-2147-AE44-9A29-A3A04B6CEA19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AF5E3-590F-234E-9775-BAC5EAE4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8109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9B91-2147-AE44-9A29-A3A04B6CEA19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AF5E3-590F-234E-9775-BAC5EAE4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47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9B91-2147-AE44-9A29-A3A04B6CEA19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AF5E3-590F-234E-9775-BAC5EAE4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803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37D69B91-2147-AE44-9A29-A3A04B6CEA19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37CAF5E3-590F-234E-9775-BAC5EAE4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05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37D69B91-2147-AE44-9A29-A3A04B6CEA19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37CAF5E3-590F-234E-9775-BAC5EAE49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05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3.xml"/><Relationship Id="rId5" Type="http://schemas.openxmlformats.org/officeDocument/2006/relationships/hyperlink" Target="mailto:mstorey@uvic.ca" TargetMode="External"/><Relationship Id="rId4" Type="http://schemas.openxmlformats.org/officeDocument/2006/relationships/hyperlink" Target="mailto:andre@uci.edu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3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3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3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3.xml"/><Relationship Id="rId4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10131"/>
              </p:ext>
            </p:extLst>
          </p:nvPr>
        </p:nvGraphicFramePr>
        <p:xfrm>
          <a:off x="285204" y="6202392"/>
          <a:ext cx="235845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0" imgH="0" progId="">
                  <p:embed/>
                </p:oleObj>
              </mc:Choice>
              <mc:Fallback>
                <p:oleObj r:id="rId2" imgW="0" imgH="0" progId="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>
                      <a:xfrm>
                        <a:off x="285204" y="6202392"/>
                        <a:ext cx="2358452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New shape"/>
          <p:cNvSpPr/>
          <p:nvPr/>
        </p:nvSpPr>
        <p:spPr>
          <a:xfrm>
            <a:off x="381000" y="381000"/>
            <a:ext cx="7937500" cy="9525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3500" dirty="0">
                <a:solidFill>
                  <a:srgbClr val="000000"/>
                </a:solidFill>
              </a:rPr>
              <a:t>ICSE 2026 Future of Software Engineering track pre-survey responses</a:t>
            </a:r>
          </a:p>
        </p:txBody>
      </p:sp>
      <p:sp>
        <p:nvSpPr>
          <p:cNvPr id="6" name="New shape"/>
          <p:cNvSpPr/>
          <p:nvPr/>
        </p:nvSpPr>
        <p:spPr>
          <a:xfrm>
            <a:off x="381000" y="1905000"/>
            <a:ext cx="7937500" cy="210006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2400" dirty="0">
                <a:solidFill>
                  <a:srgbClr val="808080"/>
                </a:solidFill>
                <a:hlinkClick r:id="rId4"/>
              </a:rPr>
              <a:t>andre@uci.edu</a:t>
            </a:r>
            <a:br>
              <a:rPr lang="en-US" sz="2400" dirty="0">
                <a:solidFill>
                  <a:srgbClr val="808080"/>
                </a:solidFill>
              </a:rPr>
            </a:br>
            <a:r>
              <a:rPr lang="en-US" sz="2400" dirty="0">
                <a:solidFill>
                  <a:srgbClr val="808080"/>
                </a:solidFill>
                <a:hlinkClick r:id="rId5"/>
              </a:rPr>
              <a:t>mstorey@uvic.ca</a:t>
            </a:r>
            <a:endParaRPr lang="en-US" sz="2400" dirty="0">
              <a:solidFill>
                <a:srgbClr val="808080"/>
              </a:solidFill>
            </a:endParaRPr>
          </a:p>
          <a:p>
            <a:pPr algn="ctr"/>
            <a:endParaRPr lang="en-US" sz="2400" dirty="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92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10131"/>
              </p:ext>
            </p:extLst>
          </p:nvPr>
        </p:nvGraphicFramePr>
        <p:xfrm>
          <a:off x="285204" y="6202392"/>
          <a:ext cx="235845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0" imgH="0" progId="">
                  <p:embed/>
                </p:oleObj>
              </mc:Choice>
              <mc:Fallback>
                <p:oleObj r:id="rId2" imgW="0" imgH="0" progId="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>
                      <a:xfrm>
                        <a:off x="285204" y="6202392"/>
                        <a:ext cx="2358452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New shape"/>
          <p:cNvSpPr/>
          <p:nvPr/>
        </p:nvSpPr>
        <p:spPr>
          <a:xfrm>
            <a:off x="381000" y="63500"/>
            <a:ext cx="7937500" cy="127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rgbClr val="000000"/>
                </a:solidFill>
              </a:rPr>
              <a:t>Overall Survey Statistics</a:t>
            </a:r>
          </a:p>
        </p:txBody>
      </p:sp>
      <p:graphicFrame>
        <p:nvGraphicFramePr>
          <p:cNvPr id="3" name="ChartObject">
            <a:extLst>
              <a:ext uri="{FF2B5EF4-FFF2-40B4-BE49-F238E27FC236}">
                <a16:creationId xmlns:a16="http://schemas.microsoft.com/office/drawing/2014/main" id="{2B1C96FF-6D32-5D40-1596-D79280071F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9371472"/>
              </p:ext>
            </p:extLst>
          </p:nvPr>
        </p:nvGraphicFramePr>
        <p:xfrm>
          <a:off x="317500" y="1556792"/>
          <a:ext cx="79375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0033ED1-A673-E719-8CBA-6D3F7F3EEDBD}"/>
              </a:ext>
            </a:extLst>
          </p:cNvPr>
          <p:cNvSpPr txBox="1"/>
          <p:nvPr/>
        </p:nvSpPr>
        <p:spPr>
          <a:xfrm>
            <a:off x="2563959" y="5542260"/>
            <a:ext cx="4011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>
                <a:solidFill>
                  <a:srgbClr val="0070C0"/>
                </a:solidFill>
              </a:rPr>
              <a:t>Remainder of the slides: completed only</a:t>
            </a:r>
          </a:p>
        </p:txBody>
      </p:sp>
    </p:spTree>
    <p:extLst>
      <p:ext uri="{BB962C8B-B14F-4D97-AF65-F5344CB8AC3E}">
        <p14:creationId xmlns:p14="http://schemas.microsoft.com/office/powerpoint/2010/main" val="26992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10131"/>
              </p:ext>
            </p:extLst>
          </p:nvPr>
        </p:nvGraphicFramePr>
        <p:xfrm>
          <a:off x="285204" y="6202392"/>
          <a:ext cx="235845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0" imgH="0" progId="">
                  <p:embed/>
                </p:oleObj>
              </mc:Choice>
              <mc:Fallback>
                <p:oleObj r:id="rId2" imgW="0" imgH="0" progId="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>
                      <a:xfrm>
                        <a:off x="285204" y="6202392"/>
                        <a:ext cx="2358452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New shape"/>
          <p:cNvSpPr/>
          <p:nvPr/>
        </p:nvSpPr>
        <p:spPr>
          <a:xfrm>
            <a:off x="381000" y="63500"/>
            <a:ext cx="7937500" cy="127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rgbClr val="000000"/>
                </a:solidFill>
              </a:rPr>
              <a:t>What is your primary role (or are your primary roles)?</a:t>
            </a:r>
          </a:p>
        </p:txBody>
      </p:sp>
      <p:graphicFrame>
        <p:nvGraphicFramePr>
          <p:cNvPr id="6" name="ChartObject"/>
          <p:cNvGraphicFramePr/>
          <p:nvPr/>
        </p:nvGraphicFramePr>
        <p:xfrm>
          <a:off x="317500" y="1524000"/>
          <a:ext cx="79375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6992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10131"/>
              </p:ext>
            </p:extLst>
          </p:nvPr>
        </p:nvGraphicFramePr>
        <p:xfrm>
          <a:off x="285204" y="6202392"/>
          <a:ext cx="235845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0" imgH="0" progId="">
                  <p:embed/>
                </p:oleObj>
              </mc:Choice>
              <mc:Fallback>
                <p:oleObj r:id="rId2" imgW="0" imgH="0" progId="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>
                      <a:xfrm>
                        <a:off x="285204" y="6202392"/>
                        <a:ext cx="2358452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New shape"/>
          <p:cNvSpPr/>
          <p:nvPr/>
        </p:nvSpPr>
        <p:spPr>
          <a:xfrm>
            <a:off x="381000" y="63500"/>
            <a:ext cx="7937500" cy="127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rgbClr val="000000"/>
                </a:solidFill>
              </a:rPr>
              <a:t>How many years have you been involved in the software engineering research community (e.g., published papers, presented talks, attended conferences/workshops, served as reviewer)?</a:t>
            </a:r>
          </a:p>
        </p:txBody>
      </p:sp>
      <p:graphicFrame>
        <p:nvGraphicFramePr>
          <p:cNvPr id="6" name="ChartObject"/>
          <p:cNvGraphicFramePr/>
          <p:nvPr/>
        </p:nvGraphicFramePr>
        <p:xfrm>
          <a:off x="317500" y="1524000"/>
          <a:ext cx="79375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6992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10131"/>
              </p:ext>
            </p:extLst>
          </p:nvPr>
        </p:nvGraphicFramePr>
        <p:xfrm>
          <a:off x="285204" y="6202392"/>
          <a:ext cx="235845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0" imgH="0" progId="">
                  <p:embed/>
                </p:oleObj>
              </mc:Choice>
              <mc:Fallback>
                <p:oleObj r:id="rId2" imgW="0" imgH="0" progId="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>
                      <a:xfrm>
                        <a:off x="285204" y="6202392"/>
                        <a:ext cx="2358452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New shape"/>
          <p:cNvSpPr/>
          <p:nvPr/>
        </p:nvSpPr>
        <p:spPr>
          <a:xfrm>
            <a:off x="381000" y="63500"/>
            <a:ext cx="7937500" cy="127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rgbClr val="000000"/>
                </a:solidFill>
              </a:rPr>
              <a:t>Considering only software engineering journals and conferences, in approximately how many paper submissions were you involved as an author or co-author over the past three years?</a:t>
            </a:r>
          </a:p>
        </p:txBody>
      </p:sp>
      <p:graphicFrame>
        <p:nvGraphicFramePr>
          <p:cNvPr id="6" name="ChartObject"/>
          <p:cNvGraphicFramePr/>
          <p:nvPr/>
        </p:nvGraphicFramePr>
        <p:xfrm>
          <a:off x="317500" y="1524000"/>
          <a:ext cx="79375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6992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10131"/>
              </p:ext>
            </p:extLst>
          </p:nvPr>
        </p:nvGraphicFramePr>
        <p:xfrm>
          <a:off x="285204" y="6202392"/>
          <a:ext cx="235845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0" imgH="0" progId="">
                  <p:embed/>
                </p:oleObj>
              </mc:Choice>
              <mc:Fallback>
                <p:oleObj r:id="rId2" imgW="0" imgH="0" progId="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>
                      <a:xfrm>
                        <a:off x="285204" y="6202392"/>
                        <a:ext cx="2358452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New shape"/>
          <p:cNvSpPr/>
          <p:nvPr/>
        </p:nvSpPr>
        <p:spPr>
          <a:xfrm>
            <a:off x="381000" y="63500"/>
            <a:ext cx="7937500" cy="127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rgbClr val="000000"/>
                </a:solidFill>
              </a:rPr>
              <a:t>Which region do you live in?</a:t>
            </a:r>
          </a:p>
        </p:txBody>
      </p:sp>
      <p:graphicFrame>
        <p:nvGraphicFramePr>
          <p:cNvPr id="6" name="ChartObject"/>
          <p:cNvGraphicFramePr/>
          <p:nvPr/>
        </p:nvGraphicFramePr>
        <p:xfrm>
          <a:off x="317500" y="1524000"/>
          <a:ext cx="79375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69925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RELEASE_DATE" val="2013.01.24"/>
  <p:tag name="AS_TITLE" val="Aspose.Slides for Java"/>
  <p:tag name="AS_VERSION" val="6.9.1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Syrc" typeface="Estrangelo Edessa"/>
        <a:font script="Orya" typeface="Kalinga"/>
        <a:font script="Jpan" typeface="ＭＳ Ｐゴシック"/>
        <a:font script="Guru" typeface="Raavi"/>
        <a:font script="Uigh" typeface="Microsoft Uighur"/>
        <a:font script="Geor" typeface="Sylfaen"/>
        <a:font script="Gujr" typeface="Shruti"/>
        <a:font script="Beng" typeface="Vrinda"/>
        <a:font script="Yiii" typeface="Microsoft Yi Baiti"/>
        <a:font script="Thaa" typeface="MV Boli"/>
        <a:font script="Khmr" typeface="MoolBoran"/>
        <a:font script="Taml" typeface="Latha"/>
        <a:font script="Cans" typeface="Euphemia"/>
        <a:font script="Telu" typeface="Gautami"/>
        <a:font script="Laoo" typeface="DokChampa"/>
        <a:font script="Deva" typeface="Mangal"/>
        <a:font script="Knda" typeface="Tunga"/>
        <a:font script="Cher" typeface="Plantagenet Cherokee"/>
        <a:font script="Arab" typeface="Times New Roman"/>
        <a:font script="Mlym" typeface="Kartika"/>
        <a:font script="Thai" typeface="Angsana New"/>
        <a:font script="Ethi" typeface="Nyala"/>
        <a:font script="Hebr" typeface="Times New Roman"/>
        <a:font script="Sinh" typeface="Iskoola Pota"/>
        <a:font script="Tibt" typeface="Microsoft Himalaya"/>
        <a:font script="Mong" typeface="Mongolian Baiti"/>
        <a:font script="Hang" typeface="맑은 고딕"/>
        <a:font script="Viet" typeface="Times New Roman"/>
        <a:font script="Hans" typeface="宋体"/>
        <a:font script="Hant" typeface="新細明體"/>
      </a:majorFont>
      <a:minorFont>
        <a:latin typeface="Calibri"/>
        <a:ea typeface=""/>
        <a:cs typeface=""/>
        <a:font script="Syrc" typeface="Estrangelo Edessa"/>
        <a:font script="Orya" typeface="Kalinga"/>
        <a:font script="Jpan" typeface="ＭＳ Ｐゴシック"/>
        <a:font script="Guru" typeface="Raavi"/>
        <a:font script="Uigh" typeface="Microsoft Uighur"/>
        <a:font script="Geor" typeface="Sylfaen"/>
        <a:font script="Gujr" typeface="Shruti"/>
        <a:font script="Beng" typeface="Vrinda"/>
        <a:font script="Yiii" typeface="Microsoft Yi Baiti"/>
        <a:font script="Thaa" typeface="MV Boli"/>
        <a:font script="Khmr" typeface="DaunPenh"/>
        <a:font script="Taml" typeface="Latha"/>
        <a:font script="Cans" typeface="Euphemia"/>
        <a:font script="Telu" typeface="Gautami"/>
        <a:font script="Laoo" typeface="DokChampa"/>
        <a:font script="Deva" typeface="Mangal"/>
        <a:font script="Knda" typeface="Tunga"/>
        <a:font script="Cher" typeface="Plantagenet Cherokee"/>
        <a:font script="Arab" typeface="Arial"/>
        <a:font script="Mlym" typeface="Kartika"/>
        <a:font script="Thai" typeface="Cordia New"/>
        <a:font script="Ethi" typeface="Nyala"/>
        <a:font script="Hebr" typeface="Arial"/>
        <a:font script="Sinh" typeface="Iskoola Pota"/>
        <a:font script="Tibt" typeface="Microsoft Himalaya"/>
        <a:font script="Mong" typeface="Mongolian Baiti"/>
        <a:font script="Hang" typeface="맑은 고딕"/>
        <a:font script="Viet" typeface="Arial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urveyanalytics (1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Syrc" typeface="Estrangelo Edessa"/>
        <a:font script="Orya" typeface="Kalinga"/>
        <a:font script="Jpan" typeface="ＭＳ Ｐゴシック"/>
        <a:font script="Guru" typeface="Raavi"/>
        <a:font script="Geor" typeface="Sylfaen"/>
        <a:font script="Beng" typeface="Vrinda"/>
        <a:font script="Yiii" typeface="Microsoft Yi Baiti"/>
        <a:font script="Thaa" typeface="MV Boli"/>
        <a:font script="Khmr" typeface="MoolBoran"/>
        <a:font script="Taml" typeface="Latha"/>
        <a:font script="Cans" typeface="Euphemia"/>
        <a:font script="Telu" typeface="Gautami"/>
        <a:font script="Laoo" typeface="DokChampa"/>
        <a:font script="Uigh" typeface="Microsoft Uighur"/>
        <a:font script="Deva" typeface="Mangal"/>
        <a:font script="Knda" typeface="Tunga"/>
        <a:font script="Cher" typeface="Plantagenet Cherokee"/>
        <a:font script="Arab" typeface="Times New Roman"/>
        <a:font script="Mlym" typeface="Kartika"/>
        <a:font script="Thai" typeface="Angsana New"/>
        <a:font script="Ethi" typeface="Nyala"/>
        <a:font script="Hebr" typeface="Times New Roman"/>
        <a:font script="Sinh" typeface="Iskoola Pota"/>
        <a:font script="Gujr" typeface="Shruti"/>
        <a:font script="Mong" typeface="Mongolian Baiti"/>
        <a:font script="Hang" typeface="맑은 고딕"/>
        <a:font script="Tibt" typeface="Microsoft Himalaya"/>
        <a:font script="Viet" typeface="Times New Roman"/>
        <a:font script="Hans" typeface="宋体"/>
        <a:font script="Hant" typeface="新細明體"/>
      </a:majorFont>
      <a:minorFont>
        <a:latin typeface="Calibri"/>
        <a:ea typeface=""/>
        <a:cs typeface=""/>
        <a:font script="Syrc" typeface="Estrangelo Edessa"/>
        <a:font script="Orya" typeface="Kalinga"/>
        <a:font script="Jpan" typeface="ＭＳ Ｐゴシック"/>
        <a:font script="Guru" typeface="Raavi"/>
        <a:font script="Geor" typeface="Sylfaen"/>
        <a:font script="Beng" typeface="Vrinda"/>
        <a:font script="Yiii" typeface="Microsoft Yi Baiti"/>
        <a:font script="Thaa" typeface="MV Boli"/>
        <a:font script="Khmr" typeface="DaunPenh"/>
        <a:font script="Taml" typeface="Latha"/>
        <a:font script="Cans" typeface="Euphemia"/>
        <a:font script="Telu" typeface="Gautami"/>
        <a:font script="Laoo" typeface="DokChampa"/>
        <a:font script="Uigh" typeface="Microsoft Uighur"/>
        <a:font script="Deva" typeface="Mangal"/>
        <a:font script="Knda" typeface="Tunga"/>
        <a:font script="Cher" typeface="Plantagenet Cherokee"/>
        <a:font script="Arab" typeface="Arial"/>
        <a:font script="Mlym" typeface="Kartika"/>
        <a:font script="Thai" typeface="Cordia New"/>
        <a:font script="Ethi" typeface="Nyala"/>
        <a:font script="Hebr" typeface="Arial"/>
        <a:font script="Sinh" typeface="Iskoola Pota"/>
        <a:font script="Gujr" typeface="Shruti"/>
        <a:font script="Mong" typeface="Mongolian Baiti"/>
        <a:font script="Hang" typeface="맑은 고딕"/>
        <a:font script="Tibt" typeface="Microsoft Himalaya"/>
        <a:font script="Viet" typeface="Arial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surveyanalytics (1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Syrc" typeface="Estrangelo Edessa"/>
        <a:font script="Orya" typeface="Kalinga"/>
        <a:font script="Jpan" typeface="ＭＳ Ｐゴシック"/>
        <a:font script="Guru" typeface="Raavi"/>
        <a:font script="Geor" typeface="Sylfaen"/>
        <a:font script="Beng" typeface="Vrinda"/>
        <a:font script="Yiii" typeface="Microsoft Yi Baiti"/>
        <a:font script="Thaa" typeface="MV Boli"/>
        <a:font script="Khmr" typeface="MoolBoran"/>
        <a:font script="Taml" typeface="Latha"/>
        <a:font script="Cans" typeface="Euphemia"/>
        <a:font script="Telu" typeface="Gautami"/>
        <a:font script="Laoo" typeface="DokChampa"/>
        <a:font script="Uigh" typeface="Microsoft Uighur"/>
        <a:font script="Deva" typeface="Mangal"/>
        <a:font script="Knda" typeface="Tunga"/>
        <a:font script="Cher" typeface="Plantagenet Cherokee"/>
        <a:font script="Arab" typeface="Times New Roman"/>
        <a:font script="Mlym" typeface="Kartika"/>
        <a:font script="Thai" typeface="Angsana New"/>
        <a:font script="Ethi" typeface="Nyala"/>
        <a:font script="Hebr" typeface="Times New Roman"/>
        <a:font script="Sinh" typeface="Iskoola Pota"/>
        <a:font script="Gujr" typeface="Shruti"/>
        <a:font script="Mong" typeface="Mongolian Baiti"/>
        <a:font script="Hang" typeface="맑은 고딕"/>
        <a:font script="Tibt" typeface="Microsoft Himalaya"/>
        <a:font script="Viet" typeface="Times New Roman"/>
        <a:font script="Hans" typeface="宋体"/>
        <a:font script="Hant" typeface="新細明體"/>
      </a:majorFont>
      <a:minorFont>
        <a:latin typeface="Calibri"/>
        <a:ea typeface=""/>
        <a:cs typeface=""/>
        <a:font script="Syrc" typeface="Estrangelo Edessa"/>
        <a:font script="Orya" typeface="Kalinga"/>
        <a:font script="Jpan" typeface="ＭＳ Ｐゴシック"/>
        <a:font script="Guru" typeface="Raavi"/>
        <a:font script="Geor" typeface="Sylfaen"/>
        <a:font script="Beng" typeface="Vrinda"/>
        <a:font script="Yiii" typeface="Microsoft Yi Baiti"/>
        <a:font script="Thaa" typeface="MV Boli"/>
        <a:font script="Khmr" typeface="DaunPenh"/>
        <a:font script="Taml" typeface="Latha"/>
        <a:font script="Cans" typeface="Euphemia"/>
        <a:font script="Telu" typeface="Gautami"/>
        <a:font script="Laoo" typeface="DokChampa"/>
        <a:font script="Uigh" typeface="Microsoft Uighur"/>
        <a:font script="Deva" typeface="Mangal"/>
        <a:font script="Knda" typeface="Tunga"/>
        <a:font script="Cher" typeface="Plantagenet Cherokee"/>
        <a:font script="Arab" typeface="Arial"/>
        <a:font script="Mlym" typeface="Kartika"/>
        <a:font script="Thai" typeface="Cordia New"/>
        <a:font script="Ethi" typeface="Nyala"/>
        <a:font script="Hebr" typeface="Arial"/>
        <a:font script="Sinh" typeface="Iskoola Pota"/>
        <a:font script="Gujr" typeface="Shruti"/>
        <a:font script="Mong" typeface="Mongolian Baiti"/>
        <a:font script="Hang" typeface="맑은 고딕"/>
        <a:font script="Tibt" typeface="Microsoft Himalaya"/>
        <a:font script="Viet" typeface="Arial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113</Words>
  <Application>Microsoft Office PowerPoint</Application>
  <PresentationFormat>On-screen Show (4:3)</PresentationFormat>
  <Paragraphs>9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Office Theme</vt:lpstr>
      <vt:lpstr>surveyanalytics (1)</vt:lpstr>
      <vt:lpstr>surveyanalytics (1)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Cusati, Jason</cp:lastModifiedBy>
  <cp:revision>2</cp:revision>
  <cp:lastPrinted>1969-12-31T16:00:00Z</cp:lastPrinted>
  <dcterms:created xsi:type="dcterms:W3CDTF">2025-11-25T09:28:41Z</dcterms:created>
  <dcterms:modified xsi:type="dcterms:W3CDTF">2026-01-06T17:55:45Z</dcterms:modified>
</cp:coreProperties>
</file>